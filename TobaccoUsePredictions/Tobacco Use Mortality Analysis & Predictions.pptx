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90" r:id="rId9"/>
    <p:sldId id="296" r:id="rId10"/>
    <p:sldId id="297" r:id="rId11"/>
    <p:sldId id="298" r:id="rId12"/>
    <p:sldId id="265" r:id="rId13"/>
    <p:sldId id="299" r:id="rId14"/>
    <p:sldId id="300" r:id="rId15"/>
    <p:sldId id="301" r:id="rId16"/>
    <p:sldId id="302" r:id="rId17"/>
    <p:sldId id="303" r:id="rId18"/>
    <p:sldId id="289" r:id="rId19"/>
    <p:sldId id="291" r:id="rId20"/>
    <p:sldId id="304" r:id="rId21"/>
    <p:sldId id="286" r:id="rId22"/>
    <p:sldId id="305" r:id="rId23"/>
    <p:sldId id="293" r:id="rId24"/>
    <p:sldId id="294" r:id="rId25"/>
    <p:sldId id="295" r:id="rId26"/>
    <p:sldId id="306" r:id="rId27"/>
    <p:sldId id="27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C6E0-FB35-7E22-78E5-4EBBB8BA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130" y="1677569"/>
            <a:ext cx="7427740" cy="1751431"/>
          </a:xfrm>
        </p:spPr>
        <p:txBody>
          <a:bodyPr/>
          <a:lstStyle/>
          <a:p>
            <a:r>
              <a:rPr lang="en-US" dirty="0"/>
              <a:t>Tobacco Use &amp; Mortality Analysis &amp; Predictions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8AED-2AA5-6810-0BD3-ABDA11EE7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756071"/>
            <a:ext cx="6815669" cy="1320802"/>
          </a:xfrm>
        </p:spPr>
        <p:txBody>
          <a:bodyPr/>
          <a:lstStyle/>
          <a:p>
            <a:r>
              <a:rPr lang="en-US" dirty="0"/>
              <a:t>Data Science &amp; Machine Learning Project</a:t>
            </a:r>
          </a:p>
          <a:p>
            <a:r>
              <a:rPr lang="en-US" dirty="0"/>
              <a:t>By - 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08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28796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Tobacco use and mortality project involves the analysis of 5 datasets containing information about the drugs, prescriptions, death rates, hospital admission rates </a:t>
            </a:r>
            <a:r>
              <a:rPr lang="en-US" dirty="0" err="1"/>
              <a:t>etc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60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analyze the deaths due to tobacco consumption based on the given 5 datasets</a:t>
            </a:r>
          </a:p>
          <a:p>
            <a:pPr lvl="1"/>
            <a:r>
              <a:rPr lang="en-US" dirty="0"/>
              <a:t>Admissions.csv</a:t>
            </a:r>
          </a:p>
          <a:p>
            <a:pPr lvl="1"/>
            <a:r>
              <a:rPr lang="en-US" dirty="0"/>
              <a:t>Prescriptions.csv</a:t>
            </a:r>
          </a:p>
          <a:p>
            <a:pPr lvl="1"/>
            <a:r>
              <a:rPr lang="en-US" dirty="0"/>
              <a:t>Fatalities.csv</a:t>
            </a:r>
          </a:p>
          <a:p>
            <a:pPr lvl="1"/>
            <a:r>
              <a:rPr lang="en-US" dirty="0"/>
              <a:t>Metrics.csv</a:t>
            </a:r>
          </a:p>
          <a:p>
            <a:pPr lvl="1"/>
            <a:r>
              <a:rPr lang="en-US" dirty="0"/>
              <a:t>Smokers.csv</a:t>
            </a:r>
          </a:p>
          <a:p>
            <a:r>
              <a:rPr lang="en-US" dirty="0"/>
              <a:t>To integrate the datasets and gather insights</a:t>
            </a:r>
          </a:p>
          <a:p>
            <a:r>
              <a:rPr lang="en-US" dirty="0"/>
              <a:t>To find relationship between deaths and the factors causing it</a:t>
            </a:r>
          </a:p>
        </p:txBody>
      </p:sp>
    </p:spTree>
    <p:extLst>
      <p:ext uri="{BB962C8B-B14F-4D97-AF65-F5344CB8AC3E}">
        <p14:creationId xmlns:p14="http://schemas.microsoft.com/office/powerpoint/2010/main" val="5513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Frameworks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for EDA</a:t>
            </a:r>
          </a:p>
          <a:p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libraries for visualization</a:t>
            </a:r>
          </a:p>
          <a:p>
            <a:r>
              <a:rPr lang="en-US" b="1" dirty="0"/>
              <a:t>Sci-kit</a:t>
            </a:r>
            <a:r>
              <a:rPr lang="en-US" dirty="0"/>
              <a:t> learn for ML preprocessing</a:t>
            </a:r>
          </a:p>
          <a:p>
            <a:r>
              <a:rPr lang="en-US" b="1" dirty="0" err="1"/>
              <a:t>LogisticRegression</a:t>
            </a:r>
            <a:r>
              <a:rPr lang="en-US" b="1" dirty="0"/>
              <a:t> and </a:t>
            </a:r>
            <a:r>
              <a:rPr lang="en-US" b="1" dirty="0" err="1"/>
              <a:t>LinearRegression</a:t>
            </a:r>
            <a:r>
              <a:rPr lang="en-US" b="1" dirty="0"/>
              <a:t> models </a:t>
            </a:r>
            <a:r>
              <a:rPr lang="en-US" dirty="0"/>
              <a:t>for Death Predictions</a:t>
            </a:r>
          </a:p>
        </p:txBody>
      </p:sp>
    </p:spTree>
    <p:extLst>
      <p:ext uri="{BB962C8B-B14F-4D97-AF65-F5344CB8AC3E}">
        <p14:creationId xmlns:p14="http://schemas.microsoft.com/office/powerpoint/2010/main" val="14867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Dataset1</a:t>
            </a:r>
            <a:r>
              <a:rPr lang="en-US" dirty="0"/>
              <a:t> – admissions.csv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</a:t>
            </a:r>
            <a:r>
              <a:rPr lang="en-US" sz="2100" b="1" dirty="0"/>
              <a:t>admissions</a:t>
            </a:r>
            <a:r>
              <a:rPr lang="en-US" sz="2100" dirty="0"/>
              <a:t> dataset</a:t>
            </a:r>
            <a:endParaRPr lang="en-IN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022F2-569E-3DDC-ACA2-CCEB1D896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24" y="1842867"/>
            <a:ext cx="9822258" cy="303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Admissions dataset </a:t>
            </a:r>
            <a:br>
              <a:rPr lang="en-US" dirty="0"/>
            </a:br>
            <a:r>
              <a:rPr lang="en-US" dirty="0"/>
              <a:t>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datatypes of the columns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Change </a:t>
            </a:r>
            <a:r>
              <a:rPr lang="en-US" dirty="0" err="1"/>
              <a:t>dtype</a:t>
            </a:r>
            <a:r>
              <a:rPr lang="en-US" dirty="0"/>
              <a:t> of ‘Value’ to numeric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Clean the ‘Year’ column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646C0C-52F8-7280-F094-E5B8EAB7B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491" y="2637821"/>
            <a:ext cx="1009650" cy="523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6CBB55-3CE8-C691-855A-46663527A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8" y="2637821"/>
            <a:ext cx="2308557" cy="1765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BAC63C-C5E0-4E12-2804-4352B755C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029" y="4060196"/>
            <a:ext cx="3200400" cy="581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F2A6CF-A4ED-7A81-D3F3-D1FB9BD40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029" y="5116035"/>
            <a:ext cx="46767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27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1055661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76253" y="5169819"/>
            <a:ext cx="3718455" cy="578518"/>
          </a:xfrm>
        </p:spPr>
        <p:txBody>
          <a:bodyPr/>
          <a:lstStyle/>
          <a:p>
            <a:r>
              <a:rPr lang="en-US" dirty="0"/>
              <a:t>No. of admissions for each cause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057017" y="2968283"/>
            <a:ext cx="2178551" cy="17021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</a:t>
            </a:r>
            <a:r>
              <a:rPr lang="en-US" dirty="0"/>
              <a:t>admissions are there for all types of cancers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38C137D-FE81-8677-B154-C74EB9307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5981" y="1629499"/>
            <a:ext cx="7799001" cy="35450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4F0AA-2C23-C4D5-78EF-C5C648E1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944" y="5536360"/>
            <a:ext cx="75152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59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/>
          <a:lstStyle/>
          <a:p>
            <a:r>
              <a:rPr lang="en-US" dirty="0"/>
              <a:t>Gender wise admissions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4092330"/>
            <a:ext cx="3606450" cy="1675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US" dirty="0"/>
              <a:t>There are almost similar admissions reported for both the genders.</a:t>
            </a:r>
          </a:p>
          <a:p>
            <a:pPr algn="ctr"/>
            <a:r>
              <a:rPr lang="en-US" dirty="0"/>
              <a:t>However, Males are slightly higher</a:t>
            </a:r>
          </a:p>
          <a:p>
            <a:pPr algn="ctr"/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BA088-0FF1-4A48-154C-BFAC2A4BB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9EEAC6-7A47-E241-3F05-64320183A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104" y="982130"/>
            <a:ext cx="5445237" cy="3871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167AD5-6E87-A7EA-B9E1-132D7C75D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87" y="1745015"/>
            <a:ext cx="4762855" cy="132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8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Dataset2</a:t>
            </a:r>
            <a:r>
              <a:rPr lang="en-US" dirty="0"/>
              <a:t> – fatalites.csv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</a:t>
            </a:r>
            <a:r>
              <a:rPr lang="en-US" sz="2100" b="1" dirty="0"/>
              <a:t>fatalities</a:t>
            </a:r>
            <a:r>
              <a:rPr lang="en-US" sz="2100" dirty="0"/>
              <a:t> dataset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236A1-7014-F286-684F-A0D009BB9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078" y="1913206"/>
            <a:ext cx="9954888" cy="303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20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Fatalities dataset </a:t>
            </a:r>
            <a:br>
              <a:rPr lang="en-US" dirty="0"/>
            </a:br>
            <a:r>
              <a:rPr lang="en-US" dirty="0"/>
              <a:t>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Clean the ‘Value’ column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Change </a:t>
            </a:r>
            <a:r>
              <a:rPr lang="en-US" dirty="0" err="1"/>
              <a:t>dtype</a:t>
            </a:r>
            <a:r>
              <a:rPr lang="en-US" dirty="0"/>
              <a:t> of ‘Value’ to numeric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15DC5-B8D3-EEA8-184E-4959AD13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98" y="3041377"/>
            <a:ext cx="1066800" cy="466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0CBF9B-BB69-CDF3-3CFE-899C2798E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198" y="4072410"/>
            <a:ext cx="3067050" cy="314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245E35-FF2C-601B-0E1B-507AA8090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198" y="5240224"/>
            <a:ext cx="330517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60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Fatalities &amp; Admissions dataset </a:t>
            </a:r>
            <a:br>
              <a:rPr lang="en-US" dirty="0"/>
            </a:br>
            <a:r>
              <a:rPr lang="en-US" dirty="0"/>
              <a:t>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Preprocessing the datasets for better insights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B2CD8-718B-5762-0513-2EE257C3B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53" y="3008947"/>
            <a:ext cx="7337694" cy="296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2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976685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8782573" y="2743201"/>
            <a:ext cx="2682597" cy="31850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The red </a:t>
            </a:r>
            <a:r>
              <a:rPr lang="en-IN" dirty="0" err="1"/>
              <a:t>color</a:t>
            </a:r>
            <a:r>
              <a:rPr lang="en-IN" dirty="0"/>
              <a:t> denotes the deaths(fatalities) for each disease.  The maximum deaths are caused by ‘Smoking’ and minimum by ‘Digestive System’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93548D-9869-CC74-007A-64C91F16F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090" y="1547370"/>
            <a:ext cx="7279509" cy="3313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A5C536-6EB7-55FB-48DA-1D32CDCB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220" y="4948704"/>
            <a:ext cx="5286375" cy="120015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240DEE5-D98E-0C25-E028-BB439A06B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5227" y="2322753"/>
            <a:ext cx="3718455" cy="578518"/>
          </a:xfrm>
        </p:spPr>
        <p:txBody>
          <a:bodyPr/>
          <a:lstStyle/>
          <a:p>
            <a:r>
              <a:rPr lang="en-US" dirty="0"/>
              <a:t>Admissions and </a:t>
            </a:r>
            <a:r>
              <a:rPr lang="en-US" dirty="0">
                <a:solidFill>
                  <a:srgbClr val="FF0000"/>
                </a:solidFill>
              </a:rPr>
              <a:t>Fatalities</a:t>
            </a:r>
            <a:r>
              <a:rPr lang="en-US" dirty="0"/>
              <a:t> for each disease</a:t>
            </a:r>
          </a:p>
        </p:txBody>
      </p:sp>
    </p:spTree>
    <p:extLst>
      <p:ext uri="{BB962C8B-B14F-4D97-AF65-F5344CB8AC3E}">
        <p14:creationId xmlns:p14="http://schemas.microsoft.com/office/powerpoint/2010/main" val="160833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Dataset3</a:t>
            </a:r>
            <a:r>
              <a:rPr lang="en-US" dirty="0"/>
              <a:t> – metrics.csv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4745675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</a:t>
            </a:r>
            <a:r>
              <a:rPr lang="en-US" sz="2100" b="1" dirty="0"/>
              <a:t>metrics</a:t>
            </a:r>
            <a:r>
              <a:rPr lang="en-US" sz="2100" dirty="0"/>
              <a:t> dataset, total 36 records</a:t>
            </a:r>
            <a:endParaRPr lang="en-IN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802521-A80F-9D7E-759E-FCA869CD8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49" y="2152357"/>
            <a:ext cx="9894605" cy="2574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012D86-F8CA-CA48-09FB-11FD84D2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720" y="5239387"/>
            <a:ext cx="1280877" cy="87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724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Dataset4</a:t>
            </a:r>
            <a:r>
              <a:rPr lang="en-US" dirty="0"/>
              <a:t> – prescriptions.csv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4745675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</a:t>
            </a:r>
            <a:r>
              <a:rPr lang="en-US" sz="2100" b="1" dirty="0"/>
              <a:t>prescriptions</a:t>
            </a:r>
            <a:r>
              <a:rPr lang="en-US" sz="2100" dirty="0"/>
              <a:t> dataset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1A610-1C59-AE13-6C18-8E6E8891C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67" y="1802854"/>
            <a:ext cx="10238465" cy="284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20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Prescriptions dataset </a:t>
            </a:r>
            <a:br>
              <a:rPr lang="en-US" dirty="0"/>
            </a:br>
            <a:r>
              <a:rPr lang="en-US" dirty="0"/>
              <a:t>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Clean the ‘Year’ column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725F5F-E4F5-B5DE-728B-0325BFE09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505" y="3064483"/>
            <a:ext cx="1200150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4B590C-0F13-57BE-E5F8-C7473AF95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505" y="4638834"/>
            <a:ext cx="4800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1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Preprocessing for Integrating all 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Set the index of all datasets to ‘Year’ column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Change </a:t>
            </a:r>
            <a:r>
              <a:rPr lang="en-US" dirty="0" err="1"/>
              <a:t>dtype</a:t>
            </a:r>
            <a:r>
              <a:rPr lang="en-US" dirty="0"/>
              <a:t> of index to numeric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AC5D76-24B3-972E-CE5A-FD1159DC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790" y="3033712"/>
            <a:ext cx="2781300" cy="7905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C74FB0-EAB4-6865-6ABC-DDAF6B31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790" y="3847570"/>
            <a:ext cx="2390775" cy="247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61E936-7F89-B98B-BCD7-CD549A3C6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92" y="4666456"/>
            <a:ext cx="3209925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Integrating all 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Join the dataset and remove unwanted columns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FB0E2-ED28-C4FC-95D8-A49E77478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086" y="3103611"/>
            <a:ext cx="5638800" cy="847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3D51FE-E99E-10B2-0352-B0789C153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273" y="4075528"/>
            <a:ext cx="56864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36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72" y="956765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68863" y="5852302"/>
            <a:ext cx="4445808" cy="514091"/>
          </a:xfrm>
        </p:spPr>
        <p:txBody>
          <a:bodyPr>
            <a:normAutofit/>
          </a:bodyPr>
          <a:lstStyle/>
          <a:p>
            <a:r>
              <a:rPr lang="en-US" dirty="0"/>
              <a:t>Cost of Nicotine replacement vs expense on tobacco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1644224" y="3094892"/>
            <a:ext cx="2832829" cy="2109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As the price of nicotine replacement increases, the household expenditure on tobacco decreases, with fluctuations around 30k </a:t>
            </a:r>
          </a:p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D8BEDD-0FD5-175A-FD1C-D64C3A375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529" y="2337577"/>
            <a:ext cx="6086475" cy="3514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C778B9-5FE2-6B35-B0A0-C73ED84D0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41" y="1692771"/>
            <a:ext cx="682942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314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>
            <a:normAutofit/>
          </a:bodyPr>
          <a:lstStyle/>
          <a:p>
            <a:r>
              <a:rPr lang="en-US" dirty="0"/>
              <a:t>Tobacco Price vs Deaths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4092330"/>
            <a:ext cx="3606450" cy="1675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US" dirty="0"/>
              <a:t>As the Tobacco price increases, the number of deaths decreases</a:t>
            </a:r>
          </a:p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2FC2C-B8E1-B6FC-2F10-000208AE0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745015"/>
            <a:ext cx="4857750" cy="3514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9C4905-735B-ACD2-A720-5EEF4C998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128" y="2132445"/>
            <a:ext cx="3314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03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>
            <a:normAutofit/>
          </a:bodyPr>
          <a:lstStyle/>
          <a:p>
            <a:r>
              <a:rPr lang="en-US" dirty="0"/>
              <a:t>Prescriptions vs Deaths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4092330"/>
            <a:ext cx="3606450" cy="1675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US" dirty="0"/>
              <a:t>There does not seem to be a correlation between prescriptions and deaths</a:t>
            </a:r>
          </a:p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05887BA-607C-16F3-4750-03337789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061" y="2031594"/>
            <a:ext cx="4829175" cy="3276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ED7E13-8EF6-DE7B-1C94-06F95968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869" y="2167451"/>
            <a:ext cx="402907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943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56FB93E-CE2F-A20B-A4A1-F3ADDBF71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988" y="2668096"/>
            <a:ext cx="7603147" cy="320777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dirty="0"/>
              <a:t>Dropping a few columns and renaming some to create a table for 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DCF314-EB5F-024C-2E05-3205B2294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988" y="3182816"/>
            <a:ext cx="7858125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B0F9BB-866F-C0B2-B8AF-B8CDAB3D8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988" y="4197212"/>
            <a:ext cx="4314825" cy="5238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65648D-7FFF-C95A-12C0-96FFA1AD9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988" y="4821083"/>
            <a:ext cx="786765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03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 Engineered &amp; Integrated Dataset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944C9-3D12-AA25-396E-6F5B0C32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71697"/>
            <a:ext cx="8229600" cy="287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74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Correlation Matrix </a:t>
            </a:r>
            <a:r>
              <a:rPr lang="en-US" sz="2000" dirty="0"/>
              <a:t>and</a:t>
            </a:r>
            <a:r>
              <a:rPr lang="en-US" sz="2000" b="1" dirty="0"/>
              <a:t> </a:t>
            </a:r>
            <a:r>
              <a:rPr lang="en-US" sz="2000" b="1" dirty="0" err="1"/>
              <a:t>HeatMap</a:t>
            </a:r>
            <a:endParaRPr lang="en-US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0B6CD2-68E7-7DC9-0436-A0392658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26" y="3124053"/>
            <a:ext cx="6276975" cy="1847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D5BB70-62FB-9707-1862-C72B9F668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064" y="2429930"/>
            <a:ext cx="3888763" cy="370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294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Declare X and 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Split them into train and test data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Apply </a:t>
            </a:r>
            <a:r>
              <a:rPr lang="en-US" sz="2000" dirty="0" err="1"/>
              <a:t>LinearRegression</a:t>
            </a:r>
            <a:r>
              <a:rPr lang="en-US" sz="2000" dirty="0"/>
              <a:t> OLS model to find the result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4BE74-7418-6B01-EAD7-A3FCE17EA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814" y="2951935"/>
            <a:ext cx="2124075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A10152-F378-8E91-79FC-D3CFE47E7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814" y="3851030"/>
            <a:ext cx="3076575" cy="228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3C877D-6795-3A09-C77B-4698CFD15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814" y="4981795"/>
            <a:ext cx="19716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73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44390"/>
            <a:ext cx="499285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4. Analyze the results</a:t>
            </a:r>
          </a:p>
          <a:p>
            <a:r>
              <a:rPr lang="en-US" sz="2000" dirty="0"/>
              <a:t>	R-squared value is 0.124 means that ‘Deaths’ are dependent on features by only 12.4%</a:t>
            </a:r>
          </a:p>
          <a:p>
            <a:r>
              <a:rPr lang="en-US" sz="2000" dirty="0"/>
              <a:t>P-value for the features ‘Treatment Cost’ and ‘Year’ is &lt;0.05, hence they are somewhat related to Deaths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64BC7-5020-BC41-69C3-94A41F10E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258" y="2444390"/>
            <a:ext cx="3103394" cy="382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05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Scatter plots for Deaths vs all the features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2936F-29BF-3E36-5BE5-1DBDC4C7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67" y="2285999"/>
            <a:ext cx="5973496" cy="40064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542A38-6852-DBAB-4B29-AFC5DFD4E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175" y="5123498"/>
            <a:ext cx="52863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59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CD2-A076-E383-F8A3-6AD471A91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41A81-C1EF-DB47-674E-53C5A358D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281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4030</TotalTime>
  <Words>540</Words>
  <Application>Microsoft Office PowerPoint</Application>
  <PresentationFormat>Widescreen</PresentationFormat>
  <Paragraphs>98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Garamond</vt:lpstr>
      <vt:lpstr>Wingdings</vt:lpstr>
      <vt:lpstr>Organic</vt:lpstr>
      <vt:lpstr>Tobacco Use &amp; Mortality Analysis &amp; Predictions</vt:lpstr>
      <vt:lpstr>Introduction</vt:lpstr>
      <vt:lpstr>Objective</vt:lpstr>
      <vt:lpstr>Tools &amp; Frameworks Used</vt:lpstr>
      <vt:lpstr>Dataset1 – admissions.csv</vt:lpstr>
      <vt:lpstr>Admissions dataset  Data Cleaning &amp; Preprocessing</vt:lpstr>
      <vt:lpstr>Data Visualization</vt:lpstr>
      <vt:lpstr>Data Visualization</vt:lpstr>
      <vt:lpstr>Dataset2 – fatalites.csv</vt:lpstr>
      <vt:lpstr>Fatalities dataset  Data Cleaning &amp; Preprocessing</vt:lpstr>
      <vt:lpstr>Fatalities &amp; Admissions dataset  Preprocessing</vt:lpstr>
      <vt:lpstr>Data Visualization</vt:lpstr>
      <vt:lpstr>Dataset3 – metrics.csv</vt:lpstr>
      <vt:lpstr>Dataset4 – prescriptions.csv</vt:lpstr>
      <vt:lpstr>Prescriptions dataset  Data Cleaning &amp; Preprocessing</vt:lpstr>
      <vt:lpstr>Preprocessing for Integrating all datasets</vt:lpstr>
      <vt:lpstr>Integrating all datasets</vt:lpstr>
      <vt:lpstr>Data Visualization</vt:lpstr>
      <vt:lpstr>Data Visualization</vt:lpstr>
      <vt:lpstr>Data Visualization</vt:lpstr>
      <vt:lpstr>Feature Engineering</vt:lpstr>
      <vt:lpstr>Feature Engineered &amp; Integrated Dataset</vt:lpstr>
      <vt:lpstr>Correlation</vt:lpstr>
      <vt:lpstr>Machine Learning</vt:lpstr>
      <vt:lpstr>Machine Learning</vt:lpstr>
      <vt:lpstr>Scatter plots for Deaths vs all the features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shruti0922@gmail.com</dc:creator>
  <cp:lastModifiedBy>shruti0922@gmail.com</cp:lastModifiedBy>
  <cp:revision>347</cp:revision>
  <dcterms:created xsi:type="dcterms:W3CDTF">2024-10-08T04:09:07Z</dcterms:created>
  <dcterms:modified xsi:type="dcterms:W3CDTF">2024-10-15T03:26:15Z</dcterms:modified>
</cp:coreProperties>
</file>