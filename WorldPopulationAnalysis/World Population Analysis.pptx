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96" r:id="rId10"/>
    <p:sldId id="265" r:id="rId11"/>
    <p:sldId id="297" r:id="rId12"/>
    <p:sldId id="289" r:id="rId13"/>
    <p:sldId id="305" r:id="rId14"/>
    <p:sldId id="298" r:id="rId15"/>
    <p:sldId id="299" r:id="rId16"/>
    <p:sldId id="303" r:id="rId17"/>
    <p:sldId id="302" r:id="rId18"/>
    <p:sldId id="300" r:id="rId19"/>
    <p:sldId id="304" r:id="rId20"/>
    <p:sldId id="301" r:id="rId21"/>
    <p:sldId id="306" r:id="rId22"/>
    <p:sldId id="307" r:id="rId23"/>
    <p:sldId id="308" r:id="rId24"/>
    <p:sldId id="293" r:id="rId25"/>
    <p:sldId id="294" r:id="rId26"/>
    <p:sldId id="309" r:id="rId27"/>
    <p:sldId id="310" r:id="rId28"/>
    <p:sldId id="311" r:id="rId29"/>
    <p:sldId id="312" r:id="rId30"/>
    <p:sldId id="274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3" autoAdjust="0"/>
    <p:restoredTop sz="94660"/>
  </p:normalViewPr>
  <p:slideViewPr>
    <p:cSldViewPr snapToGrid="0">
      <p:cViewPr varScale="1">
        <p:scale>
          <a:sx n="68" d="100"/>
          <a:sy n="68" d="100"/>
        </p:scale>
        <p:origin x="8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5C6E0-FB35-7E22-78E5-4EBBB8BA3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2130" y="1677569"/>
            <a:ext cx="7427740" cy="1751431"/>
          </a:xfrm>
        </p:spPr>
        <p:txBody>
          <a:bodyPr/>
          <a:lstStyle/>
          <a:p>
            <a:r>
              <a:rPr lang="en-US" dirty="0"/>
              <a:t>World Population Analysis &amp; Prediction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08AED-2AA5-6810-0BD3-ABDA11EE7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756071"/>
            <a:ext cx="6815669" cy="1320802"/>
          </a:xfrm>
        </p:spPr>
        <p:txBody>
          <a:bodyPr/>
          <a:lstStyle/>
          <a:p>
            <a:r>
              <a:rPr lang="en-US" dirty="0"/>
              <a:t>Data Science &amp; Machine Learning Project</a:t>
            </a:r>
          </a:p>
          <a:p>
            <a:r>
              <a:rPr lang="en-US" dirty="0"/>
              <a:t>By - Shruti Gupta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3083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E7DD-9BB3-07E1-8DD0-F3C25D4BE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6C4CD-C615-4DA6-5A9A-A6AC8560A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World population Dataset contains Historical Population data for every Country/Territory in the world by different parameters like Area Size of the Country/Territory, Name of the Continent, Name of the Capital, Density, Population Growth Rate, Ranking based on Population, World Population Percentage.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960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E7DD-9BB3-07E1-8DD0-F3C25D4BE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6C4CD-C615-4DA6-5A9A-A6AC8560A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analyze the population trends in various countries and world as a whole over the years.</a:t>
            </a:r>
          </a:p>
          <a:p>
            <a:r>
              <a:rPr lang="en-US" dirty="0"/>
              <a:t>To visualize the same with graphs</a:t>
            </a:r>
          </a:p>
          <a:p>
            <a:r>
              <a:rPr lang="en-US" dirty="0"/>
              <a:t>To analyze the UN population dataset and join with the given dataset to find insights</a:t>
            </a:r>
          </a:p>
          <a:p>
            <a:r>
              <a:rPr lang="en-US" dirty="0"/>
              <a:t>To predict population and correlation between features using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551395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E7DD-9BB3-07E1-8DD0-F3C25D4BE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&amp; Frameworks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6C4CD-C615-4DA6-5A9A-A6AC8560A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Python</a:t>
            </a:r>
            <a:r>
              <a:rPr lang="en-US" dirty="0"/>
              <a:t> for EDA</a:t>
            </a:r>
          </a:p>
          <a:p>
            <a:r>
              <a:rPr lang="en-US" b="1" dirty="0"/>
              <a:t>Matplotlib</a:t>
            </a:r>
            <a:r>
              <a:rPr lang="en-US" dirty="0"/>
              <a:t> and </a:t>
            </a:r>
            <a:r>
              <a:rPr lang="en-US" b="1" dirty="0"/>
              <a:t>Seaborn</a:t>
            </a:r>
            <a:r>
              <a:rPr lang="en-US" dirty="0"/>
              <a:t> libraries for visualization</a:t>
            </a:r>
          </a:p>
          <a:p>
            <a:r>
              <a:rPr lang="en-US" b="1" dirty="0"/>
              <a:t>Plotly</a:t>
            </a:r>
            <a:r>
              <a:rPr lang="en-US" dirty="0"/>
              <a:t> for maps</a:t>
            </a:r>
          </a:p>
          <a:p>
            <a:r>
              <a:rPr lang="en-US" b="1" dirty="0"/>
              <a:t>LinearRegression</a:t>
            </a:r>
            <a:r>
              <a:rPr lang="en-US" dirty="0"/>
              <a:t> OLS model for predictions</a:t>
            </a:r>
          </a:p>
        </p:txBody>
      </p:sp>
    </p:spTree>
    <p:extLst>
      <p:ext uri="{BB962C8B-B14F-4D97-AF65-F5344CB8AC3E}">
        <p14:creationId xmlns:p14="http://schemas.microsoft.com/office/powerpoint/2010/main" val="1486792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26F9-E2AC-9AA2-B757-050295A43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901" y="1138610"/>
            <a:ext cx="9609666" cy="566738"/>
          </a:xfrm>
        </p:spPr>
        <p:txBody>
          <a:bodyPr>
            <a:normAutofit fontScale="90000"/>
          </a:bodyPr>
          <a:lstStyle/>
          <a:p>
            <a:r>
              <a:rPr lang="en-US" sz="4900" dirty="0"/>
              <a:t>Dataset</a:t>
            </a:r>
            <a:r>
              <a:rPr lang="en-US" dirty="0"/>
              <a:t> 1– world_population.csv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65014-FCDA-8BA6-8B75-33129AF32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1167" y="5438508"/>
            <a:ext cx="9609666" cy="493712"/>
          </a:xfrm>
        </p:spPr>
        <p:txBody>
          <a:bodyPr>
            <a:normAutofit/>
          </a:bodyPr>
          <a:lstStyle/>
          <a:p>
            <a:r>
              <a:rPr lang="en-US" sz="2100" dirty="0"/>
              <a:t>First 5 rows of the dataset</a:t>
            </a:r>
            <a:endParaRPr lang="en-IN" sz="2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1FFE5E-DD85-CAD4-EA51-63CE13C44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405" y="1927274"/>
            <a:ext cx="10348098" cy="305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08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2DB7B8F-4B7A-BFD7-5520-444E3C3922AB}"/>
              </a:ext>
            </a:extLst>
          </p:cNvPr>
          <p:cNvSpPr txBox="1">
            <a:spLocks/>
          </p:cNvSpPr>
          <p:nvPr/>
        </p:nvSpPr>
        <p:spPr>
          <a:xfrm>
            <a:off x="6399126" y="2240279"/>
            <a:ext cx="4121613" cy="23141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2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The dataset consists of entries for population of countries, their rank based on population and other information about them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Analysis will be done based on these columns to find trends and insights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DD0E0D-DE2B-70C9-F25D-D6D8040EE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418" y="1083212"/>
            <a:ext cx="4422570" cy="462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872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Top 10 countries with highest population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B5896F-F9CC-4A29-5739-7811FDC6F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2" y="3040985"/>
            <a:ext cx="7378726" cy="328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227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5386-C333-771E-14FA-24A4583A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1166497"/>
            <a:ext cx="3718455" cy="578518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4C36C-28CB-EA37-5933-A8786D52A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4487" y="1759522"/>
            <a:ext cx="3718455" cy="578518"/>
          </a:xfrm>
        </p:spPr>
        <p:txBody>
          <a:bodyPr/>
          <a:lstStyle/>
          <a:p>
            <a:r>
              <a:rPr lang="en-US" dirty="0"/>
              <a:t>World population across continents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F8F362B-366C-395A-FB9E-9D57D3CFAB11}"/>
              </a:ext>
            </a:extLst>
          </p:cNvPr>
          <p:cNvSpPr/>
          <p:nvPr/>
        </p:nvSpPr>
        <p:spPr>
          <a:xfrm>
            <a:off x="1434486" y="2338040"/>
            <a:ext cx="4051913" cy="12632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INFERENCE</a:t>
            </a:r>
          </a:p>
          <a:p>
            <a:pPr algn="ctr"/>
            <a:r>
              <a:rPr lang="en-IN" dirty="0"/>
              <a:t>Maximum </a:t>
            </a:r>
            <a:r>
              <a:rPr lang="en-US" dirty="0"/>
              <a:t>populated continent is Asia with 59% followed by Africa at 17%.</a:t>
            </a:r>
          </a:p>
          <a:p>
            <a:pPr algn="ctr"/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885E20-58CA-F7FB-7C14-508D68BDB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844" y="808779"/>
            <a:ext cx="5420440" cy="40681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F4D449-4512-6847-67C2-1C61CAF1F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60" y="4461066"/>
            <a:ext cx="7497769" cy="172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759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197" y="2556932"/>
            <a:ext cx="10677378" cy="331893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Analyzing population country-wise over the years</a:t>
            </a:r>
          </a:p>
          <a:p>
            <a:pPr marL="0" indent="0">
              <a:buNone/>
            </a:pPr>
            <a:r>
              <a:rPr lang="en-US" sz="2000" dirty="0"/>
              <a:t>Create a new dataset</a:t>
            </a:r>
          </a:p>
          <a:p>
            <a:pPr marL="0" indent="0">
              <a:buNone/>
            </a:pPr>
            <a:r>
              <a:rPr lang="en-US" sz="2000" dirty="0"/>
              <a:t>Update index and sort values by ‘2022 population’ in descending order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02BFA2-2EA4-3F1D-0CC9-C97EF063A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179" y="3057822"/>
            <a:ext cx="9429750" cy="400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129C82-4C6C-8A3E-FC75-C12646086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474" y="4032240"/>
            <a:ext cx="3429000" cy="2857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4AB8B5-FCDE-3AD7-F298-AC405F71B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6474" y="4288369"/>
            <a:ext cx="5219700" cy="3143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6AE2B3-3C39-842F-A55C-B37018A85C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6474" y="4758861"/>
            <a:ext cx="5615646" cy="14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163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5386-C333-771E-14FA-24A4583A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48" y="950319"/>
            <a:ext cx="3718455" cy="578518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4C36C-28CB-EA37-5933-A8786D52A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89700" y="5482572"/>
            <a:ext cx="3718455" cy="5140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Population trend of top 5 highest populated countries over the years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C257093-C40E-E3B4-3099-5E8201F55984}"/>
              </a:ext>
            </a:extLst>
          </p:cNvPr>
          <p:cNvSpPr/>
          <p:nvPr/>
        </p:nvSpPr>
        <p:spPr>
          <a:xfrm>
            <a:off x="1278913" y="3713871"/>
            <a:ext cx="3950824" cy="12801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INFERENCE</a:t>
            </a:r>
          </a:p>
          <a:p>
            <a:pPr algn="ctr"/>
            <a:r>
              <a:rPr lang="en-IN" dirty="0"/>
              <a:t>A steep increase in population is seen for China and India from 1970 to 2010</a:t>
            </a:r>
          </a:p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5ED1A-7801-C29F-6F2E-DDEA747CE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850" y="861337"/>
            <a:ext cx="5057775" cy="4505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3DB96B-DD0B-F506-6074-B55E19C54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88" y="1715160"/>
            <a:ext cx="448627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38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5386-C333-771E-14FA-24A4583A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6966" y="670248"/>
            <a:ext cx="9158068" cy="578518"/>
          </a:xfrm>
        </p:spPr>
        <p:txBody>
          <a:bodyPr>
            <a:normAutofit/>
          </a:bodyPr>
          <a:lstStyle/>
          <a:p>
            <a:r>
              <a:rPr lang="en-US" b="1" dirty="0"/>
              <a:t>Data Visualization </a:t>
            </a:r>
            <a:r>
              <a:rPr lang="en-US" dirty="0"/>
              <a:t>- Population trend of some countries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FBB3CE-CFB2-54DC-74A0-0710AFE7E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175" y="1312543"/>
            <a:ext cx="2812537" cy="23919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5395E6-0A14-F799-1E7E-23D8ECCB2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787" y="1312543"/>
            <a:ext cx="2775738" cy="23919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8A4AFEF-C532-84F5-1C2E-8CA1D0F68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1601" y="1312543"/>
            <a:ext cx="2773224" cy="23919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49C4DE-59B3-4B99-854E-CAF8ECC11F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174" y="3704514"/>
            <a:ext cx="2812537" cy="24832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D76E2C3-0094-B924-C4C9-F5D4817978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786" y="3704514"/>
            <a:ext cx="2773225" cy="241265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332600D-C2B6-38AA-B5FF-B3091C7EB8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9085" y="3595735"/>
            <a:ext cx="2775740" cy="252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0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5386-C333-771E-14FA-24A4583A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6772" y="849553"/>
            <a:ext cx="3718455" cy="578518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4C36C-28CB-EA37-5933-A8786D52A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16806" y="1428071"/>
            <a:ext cx="5958386" cy="514091"/>
          </a:xfrm>
        </p:spPr>
        <p:txBody>
          <a:bodyPr>
            <a:normAutofit/>
          </a:bodyPr>
          <a:lstStyle/>
          <a:p>
            <a:r>
              <a:rPr lang="en-US" b="1" dirty="0"/>
              <a:t>World Population growth for the years 1970, 1980, 2000 and 2022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C257093-C40E-E3B4-3099-5E8201F55984}"/>
              </a:ext>
            </a:extLst>
          </p:cNvPr>
          <p:cNvSpPr/>
          <p:nvPr/>
        </p:nvSpPr>
        <p:spPr>
          <a:xfrm>
            <a:off x="9227714" y="2185885"/>
            <a:ext cx="2101310" cy="30921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INFERENCE</a:t>
            </a:r>
          </a:p>
          <a:p>
            <a:pPr algn="ctr"/>
            <a:r>
              <a:rPr lang="en-IN" dirty="0"/>
              <a:t>We can see INDIA turning from orange to yellow by 2022, Asia being in yellow zone (highest populated) always</a:t>
            </a:r>
          </a:p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03D16A-E9CB-EEBF-2229-71DB9100A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" y="1942162"/>
            <a:ext cx="4007239" cy="16028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827F39-E395-E9A2-C8C5-2D5EBEC8D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827" y="1942162"/>
            <a:ext cx="4007239" cy="16042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9D16636-1F7F-EE5E-D429-99807FAD8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940" y="3731973"/>
            <a:ext cx="3970353" cy="16028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D412F69-06CE-FDA8-ABA4-6831EF05FC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0589" y="3731974"/>
            <a:ext cx="3997095" cy="16028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B7F9CD8-3D32-F6AC-7562-8E281FC145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940" y="2313074"/>
            <a:ext cx="981808" cy="132544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7409F39-9D89-DD7F-D0D4-53016CA3DB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1342" y="2313074"/>
            <a:ext cx="985797" cy="132544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376083D-7F4D-B816-807B-71862F7FE2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940" y="4009427"/>
            <a:ext cx="981808" cy="135213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4CAF11E-71F8-1F72-6344-87AC900AB7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35828" y="3997579"/>
            <a:ext cx="981808" cy="133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31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5386-C333-771E-14FA-24A4583A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6772" y="849553"/>
            <a:ext cx="3718455" cy="578518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4C36C-28CB-EA37-5933-A8786D52A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16806" y="1428071"/>
            <a:ext cx="5958386" cy="514091"/>
          </a:xfrm>
        </p:spPr>
        <p:txBody>
          <a:bodyPr>
            <a:normAutofit/>
          </a:bodyPr>
          <a:lstStyle/>
          <a:p>
            <a:r>
              <a:rPr lang="en-US" b="1" dirty="0"/>
              <a:t>Maximum Population Growth of top 10 countries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C9EDA7-D250-EC06-B9C5-492223DDF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2033587"/>
            <a:ext cx="9372600" cy="27908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79F85D-B593-BC1F-91AE-F500E7661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4915837"/>
            <a:ext cx="5553808" cy="115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332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26F9-E2AC-9AA2-B757-050295A43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901" y="1138610"/>
            <a:ext cx="9609666" cy="566738"/>
          </a:xfrm>
        </p:spPr>
        <p:txBody>
          <a:bodyPr>
            <a:normAutofit fontScale="90000"/>
          </a:bodyPr>
          <a:lstStyle/>
          <a:p>
            <a:r>
              <a:rPr lang="en-US" sz="4900" dirty="0"/>
              <a:t>Dataset</a:t>
            </a:r>
            <a:r>
              <a:rPr lang="en-US" dirty="0"/>
              <a:t> 2– world_data_UN.csv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65014-FCDA-8BA6-8B75-33129AF32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1167" y="5438508"/>
            <a:ext cx="9609666" cy="493712"/>
          </a:xfrm>
        </p:spPr>
        <p:txBody>
          <a:bodyPr>
            <a:normAutofit/>
          </a:bodyPr>
          <a:lstStyle/>
          <a:p>
            <a:r>
              <a:rPr lang="en-US" sz="2100" dirty="0"/>
              <a:t>First 5 rows of the dataset</a:t>
            </a:r>
            <a:endParaRPr lang="en-IN" sz="2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0525F5-D9F3-21D9-7FD8-BBAD36713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837" y="1728787"/>
            <a:ext cx="9458325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401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– Cleanup &amp;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Rename and drop unwanted columns to get the desired </a:t>
            </a:r>
            <a:r>
              <a:rPr lang="en-US" dirty="0" err="1"/>
              <a:t>dataframe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1F231A-94F3-3483-7A09-7C01D7A79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008" y="3042506"/>
            <a:ext cx="5597989" cy="309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735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– Cleanup &amp;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UN </a:t>
            </a:r>
            <a:r>
              <a:rPr lang="en-US" dirty="0" err="1"/>
              <a:t>dataframe</a:t>
            </a:r>
            <a:r>
              <a:rPr lang="en-US" dirty="0"/>
              <a:t> contains whitespaces for Population, Total deaths, Births and Migrants, these should be removed for data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0DCCB5-C604-0019-246D-AEC0D1B13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182" y="3429000"/>
            <a:ext cx="2543175" cy="1019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572DB1-4352-2514-83A9-4F3B06705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182" y="4671484"/>
            <a:ext cx="2362200" cy="9810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F16C11-C5C7-B92F-22FF-40EF26044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138" y="3428999"/>
            <a:ext cx="2428875" cy="10191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854FE1-8DF2-6D49-501C-47A1DD7B66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5663" y="4633384"/>
            <a:ext cx="2419350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741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– Integrating data frames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E65F46E-4684-5FA5-2372-3816CB8708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3500" y="2592388"/>
            <a:ext cx="9525000" cy="3248025"/>
          </a:xfrm>
        </p:spPr>
      </p:pic>
    </p:spTree>
    <p:extLst>
      <p:ext uri="{BB962C8B-B14F-4D97-AF65-F5344CB8AC3E}">
        <p14:creationId xmlns:p14="http://schemas.microsoft.com/office/powerpoint/2010/main" val="7560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– Cleanup &amp;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Drop unwanted columns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Cleanup data by replacing illegal characters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Drop null values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Change the datatype to numeric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D91CFC7-79FA-A6B9-708E-A3B1EACF4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61" y="2971800"/>
            <a:ext cx="9439275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C3CB631-1808-83CC-30AA-D991362D4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581" y="3978910"/>
            <a:ext cx="2171700" cy="2476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EF6BB75-A622-1672-8FE6-9719C69EC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4581" y="4239093"/>
            <a:ext cx="5581650" cy="2857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1E8CCFB-A43E-490E-7545-61450FB37E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8932" y="5818905"/>
            <a:ext cx="8477250" cy="4476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15B2840-8BF9-0A29-5169-F91605DDF8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4581" y="4846153"/>
            <a:ext cx="1495425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681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Integrated Data frame </a:t>
            </a:r>
            <a:r>
              <a:rPr lang="en-US" dirty="0" err="1"/>
              <a:t>df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2BB839-DCD1-B889-0866-6D8FF0045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960" y="2556932"/>
            <a:ext cx="8848725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5386-C333-771E-14FA-24A4583A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6772" y="849553"/>
            <a:ext cx="3718455" cy="578518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4C36C-28CB-EA37-5933-A8786D52A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16806" y="1428071"/>
            <a:ext cx="5958386" cy="514091"/>
          </a:xfrm>
        </p:spPr>
        <p:txBody>
          <a:bodyPr>
            <a:normAutofit/>
          </a:bodyPr>
          <a:lstStyle/>
          <a:p>
            <a:r>
              <a:rPr lang="en-US" b="1" dirty="0"/>
              <a:t>Births from 1960 to 2022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F921F36-0D52-045B-2310-D0AF360DA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53" y="4898215"/>
            <a:ext cx="4372781" cy="12350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566751-AC9E-C269-90BD-0DA430C7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1957387"/>
            <a:ext cx="9372600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3239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5386-C333-771E-14FA-24A4583A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6772" y="849553"/>
            <a:ext cx="3718455" cy="578518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4C36C-28CB-EA37-5933-A8786D52A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16806" y="1428071"/>
            <a:ext cx="5958386" cy="514091"/>
          </a:xfrm>
        </p:spPr>
        <p:txBody>
          <a:bodyPr>
            <a:normAutofit/>
          </a:bodyPr>
          <a:lstStyle/>
          <a:p>
            <a:r>
              <a:rPr lang="en-US" b="1" dirty="0"/>
              <a:t>Deaths from 1960 to 2022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BB514B-115B-AE70-161F-BA88DE9D7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48" y="5018527"/>
            <a:ext cx="4614570" cy="12305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E3D005-7329-F5DB-DB40-9F77E4733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937" y="2009775"/>
            <a:ext cx="9382125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1169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5386-C333-771E-14FA-24A4583A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6772" y="849553"/>
            <a:ext cx="3718455" cy="578518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4C36C-28CB-EA37-5933-A8786D52A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16806" y="1428071"/>
            <a:ext cx="5958386" cy="514091"/>
          </a:xfrm>
        </p:spPr>
        <p:txBody>
          <a:bodyPr>
            <a:normAutofit/>
          </a:bodyPr>
          <a:lstStyle/>
          <a:p>
            <a:r>
              <a:rPr lang="en-US" b="1" dirty="0"/>
              <a:t>Slowest Growing Countries based on growth rate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888988-16BF-1E30-0A54-8D9CA968E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2028825"/>
            <a:ext cx="9239250" cy="2800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EFA037-2280-7D2E-A0B8-648F3AC27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48" y="4735888"/>
            <a:ext cx="4999600" cy="131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5818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5386-C333-771E-14FA-24A4583A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6772" y="849553"/>
            <a:ext cx="3718455" cy="578518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4C36C-28CB-EA37-5933-A8786D52A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16806" y="1428071"/>
            <a:ext cx="5958386" cy="514091"/>
          </a:xfrm>
        </p:spPr>
        <p:txBody>
          <a:bodyPr>
            <a:normAutofit/>
          </a:bodyPr>
          <a:lstStyle/>
          <a:p>
            <a:r>
              <a:rPr lang="en-US" b="1" dirty="0"/>
              <a:t>Fastest Growing Countries based on growth rate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6CE8DE-2AED-8FAD-BB62-F2394CE3B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51" y="4994828"/>
            <a:ext cx="4821482" cy="12256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AFF213-EF08-6D8C-DA77-98EB59114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358" y="2009774"/>
            <a:ext cx="9500968" cy="292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118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Linear Regression - Machine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7658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Encode ‘Country’ column into numeric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 Set X and Y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0C8DAB-1672-B168-3E2A-8DE6B1938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216" y="2908498"/>
            <a:ext cx="3448050" cy="228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A51FFD-1D69-AD6F-F075-C5B00A6B1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216" y="5694893"/>
            <a:ext cx="2400300" cy="361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A36348-22D4-C213-C50B-8790EB1969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216" y="3139954"/>
            <a:ext cx="5120495" cy="202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2944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Linear Regression - Machine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76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3. Apply OLS model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4A9860-215B-82C2-86E6-7C55F9BAA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907" y="2957512"/>
            <a:ext cx="1419225" cy="9429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2FACAB-D32D-C63E-8ABF-F4CB46302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749" y="1978260"/>
            <a:ext cx="3771900" cy="4733925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EAAA1B-3636-1732-2F6E-340B97948E39}"/>
              </a:ext>
            </a:extLst>
          </p:cNvPr>
          <p:cNvSpPr/>
          <p:nvPr/>
        </p:nvSpPr>
        <p:spPr>
          <a:xfrm>
            <a:off x="7861807" y="3379826"/>
            <a:ext cx="3285296" cy="1930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INFERENCE</a:t>
            </a:r>
          </a:p>
          <a:p>
            <a:pPr algn="ctr"/>
            <a:r>
              <a:rPr lang="en-US" dirty="0"/>
              <a:t>R squared value is 92%, means that 92% is the probability that population can be predicted from the features.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06734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CD0259-3941-44E2-6ADC-A06079E5FAC9}"/>
              </a:ext>
            </a:extLst>
          </p:cNvPr>
          <p:cNvSpPr txBox="1"/>
          <p:nvPr/>
        </p:nvSpPr>
        <p:spPr>
          <a:xfrm>
            <a:off x="3039794" y="933715"/>
            <a:ext cx="6112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Population correlation with other features – scatter plots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2DEEB3-2D30-B5C8-10EB-43C1766EC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325" y="1303047"/>
            <a:ext cx="699135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607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Predictions- Machine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7658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Predicting population based on Years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 Set X and Y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952DBD-330D-8077-888D-D80987F4E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217" y="3001963"/>
            <a:ext cx="2602378" cy="17801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C16162-8383-F46D-B075-A9DFD1D04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217" y="5240217"/>
            <a:ext cx="283845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7694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Linear Regression - Machine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76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3. Apply Linear Regression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4. Create a Prediction array for years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5. Predict with the trained model</a:t>
            </a:r>
          </a:p>
          <a:p>
            <a:pPr marL="0" indent="0">
              <a:buNone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28749F-61DF-28BB-994E-07C83437F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630" y="3113126"/>
            <a:ext cx="1647825" cy="533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7A3A6B-192F-FCC2-0BB0-E46333DD7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242" y="4345221"/>
            <a:ext cx="3400425" cy="4000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E708D8-F7CF-73EF-4029-C6942F988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630" y="5756805"/>
            <a:ext cx="2762250" cy="23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746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CD0259-3941-44E2-6ADC-A06079E5FAC9}"/>
              </a:ext>
            </a:extLst>
          </p:cNvPr>
          <p:cNvSpPr txBox="1"/>
          <p:nvPr/>
        </p:nvSpPr>
        <p:spPr>
          <a:xfrm>
            <a:off x="3039794" y="933715"/>
            <a:ext cx="6112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Plot the graph showing the given data and predicted population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85923E-3053-B74B-3AEC-DE350B1B7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794" y="1403086"/>
            <a:ext cx="6112412" cy="3556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701AD7-CCC4-DE21-E738-A20915942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54" y="4792926"/>
            <a:ext cx="5591175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2276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FFCD2-A076-E383-F8A3-6AD471A91D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F41A81-C1EF-DB47-674E-53C5A358D2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Shruti Gupta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2816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3156</TotalTime>
  <Words>553</Words>
  <Application>Microsoft Office PowerPoint</Application>
  <PresentationFormat>Widescreen</PresentationFormat>
  <Paragraphs>98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Garamond</vt:lpstr>
      <vt:lpstr>Wingdings</vt:lpstr>
      <vt:lpstr>Organic</vt:lpstr>
      <vt:lpstr>World Population Analysis &amp; Prediction</vt:lpstr>
      <vt:lpstr>Introduction</vt:lpstr>
      <vt:lpstr>Objective</vt:lpstr>
      <vt:lpstr>Tools &amp; Frameworks Used</vt:lpstr>
      <vt:lpstr>Dataset 1– world_population.csv</vt:lpstr>
      <vt:lpstr>PowerPoint Presentation</vt:lpstr>
      <vt:lpstr>EDA</vt:lpstr>
      <vt:lpstr>Data Visualization</vt:lpstr>
      <vt:lpstr>EDA</vt:lpstr>
      <vt:lpstr>Data Visualization</vt:lpstr>
      <vt:lpstr>Data Visualization - Population trend of some countries</vt:lpstr>
      <vt:lpstr>Data Visualization</vt:lpstr>
      <vt:lpstr>Data Visualization</vt:lpstr>
      <vt:lpstr>Dataset 2– world_data_UN.csv</vt:lpstr>
      <vt:lpstr>EDA – Cleanup &amp; Preprocessing</vt:lpstr>
      <vt:lpstr>EDA – Cleanup &amp; Preprocessing</vt:lpstr>
      <vt:lpstr>EDA – Integrating data frames</vt:lpstr>
      <vt:lpstr>EDA – Cleanup &amp; Preprocessing</vt:lpstr>
      <vt:lpstr>Integrated Data frame df</vt:lpstr>
      <vt:lpstr>Data Visualization</vt:lpstr>
      <vt:lpstr>Data Visualization</vt:lpstr>
      <vt:lpstr>Data Visualization</vt:lpstr>
      <vt:lpstr>Data Visualization</vt:lpstr>
      <vt:lpstr>Linear Regression - Machine Learning</vt:lpstr>
      <vt:lpstr>Linear Regression - Machine Learning</vt:lpstr>
      <vt:lpstr>PowerPoint Presentation</vt:lpstr>
      <vt:lpstr>Predictions- Machine Learning</vt:lpstr>
      <vt:lpstr>Linear Regression - Machine Learning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shruti0922@gmail.com</dc:creator>
  <cp:lastModifiedBy>shruti0922@gmail.com</cp:lastModifiedBy>
  <cp:revision>354</cp:revision>
  <dcterms:created xsi:type="dcterms:W3CDTF">2024-10-08T04:09:07Z</dcterms:created>
  <dcterms:modified xsi:type="dcterms:W3CDTF">2024-10-21T03:52:57Z</dcterms:modified>
</cp:coreProperties>
</file>